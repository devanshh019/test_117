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1917"/>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828800"/>
            <a:ext cx="9966960" cy="3200400"/>
          </a:xfrm>
          <a:prstGeom prst="rect">
            <a:avLst/>
          </a:prstGeom>
          <a:noFill/>
        </p:spPr>
        <p:txBody>
          <a:bodyPr wrap="square">
            <a:spAutoFit/>
          </a:bodyPr>
          <a:lstStyle/>
          <a:p>
            <a:pPr>
              <a:defRPr b="1" sz="3600">
                <a:solidFill>
                  <a:srgbClr val="FAF8F5"/>
                </a:solidFill>
              </a:defRPr>
            </a:pPr>
            <a:r>
              <a:t>PPT ON SOLAR POWER</a:t>
            </a:r>
          </a:p>
          <a:p>
            <a:pPr>
              <a:spcBef>
                <a:spcPts val="1200"/>
              </a:spcBef>
              <a:defRPr sz="1800">
                <a:solidFill>
                  <a:srgbClr val="EA580C"/>
                </a:solidFill>
              </a:defRPr>
            </a:pPr>
            <a:r>
              <a:t>Technical Presentation</a:t>
            </a:r>
          </a:p>
          <a:p>
            <a:pPr>
              <a:spcBef>
                <a:spcPts val="1000"/>
              </a:spcBef>
              <a:defRPr sz="1100">
                <a:solidFill>
                  <a:srgbClr val="A8A29E"/>
                </a:solidFill>
              </a:defRPr>
            </a:pPr>
            <a:r>
              <a:t>CONFIDENTIAL // SOVEREIGN AIR-GAPPED WORKBENCH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31520"/>
            <a:ext cx="10332720" cy="914400"/>
          </a:xfrm>
          <a:prstGeom prst="rect">
            <a:avLst/>
          </a:prstGeom>
          <a:noFill/>
        </p:spPr>
        <p:txBody>
          <a:bodyPr wrap="none">
            <a:spAutoFit/>
          </a:bodyPr>
          <a:lstStyle/>
          <a:p>
            <a:pPr>
              <a:defRPr b="1" sz="2600">
                <a:solidFill>
                  <a:srgbClr val="1C1917"/>
                </a:solidFill>
              </a:defRPr>
            </a:pPr>
            <a:r>
              <a:t>Title Slide</a:t>
            </a:r>
          </a:p>
        </p:txBody>
      </p:sp>
      <p:sp>
        <p:nvSpPr>
          <p:cNvPr id="4" name="TextBox 3"/>
          <p:cNvSpPr txBox="1"/>
          <p:nvPr/>
        </p:nvSpPr>
        <p:spPr>
          <a:xfrm>
            <a:off x="914400" y="1828800"/>
            <a:ext cx="10332720" cy="4389120"/>
          </a:xfrm>
          <a:prstGeom prst="rect">
            <a:avLst/>
          </a:prstGeom>
          <a:noFill/>
        </p:spPr>
        <p:txBody>
          <a:bodyPr wrap="square">
            <a:spAutoFit/>
          </a:bodyPr>
          <a:lstStyle/>
          <a:p/>
          <a:p>
            <a:pPr>
              <a:spcAft>
                <a:spcPts val="1400"/>
              </a:spcAft>
              <a:defRPr sz="1700">
                <a:solidFill>
                  <a:srgbClr val="44403C"/>
                </a:solidFill>
              </a:defRPr>
            </a:pPr>
            <a:r>
              <a:t>•  Title: Harnessing the Sun: An Overview of Solar Power</a:t>
            </a:r>
          </a:p>
          <a:p>
            <a:pPr>
              <a:spcAft>
                <a:spcPts val="1400"/>
              </a:spcAft>
              <a:defRPr sz="1700">
                <a:solidFill>
                  <a:srgbClr val="44403C"/>
                </a:solidFill>
              </a:defRPr>
            </a:pPr>
            <a:r>
              <a:t>•  Subtitle: Exploring the Potential of Renewable Energy</a:t>
            </a:r>
          </a:p>
          <a:p>
            <a:pPr>
              <a:spcAft>
                <a:spcPts val="1400"/>
              </a:spcAft>
              <a:defRPr sz="1700">
                <a:solidFill>
                  <a:srgbClr val="44403C"/>
                </a:solidFill>
              </a:defRPr>
            </a:pPr>
            <a:r>
              <a:t>•  Image: A vibrant image of a solar panel array on a rooftop or in a solar farm.</a:t>
            </a:r>
          </a:p>
          <a:p>
            <a:pPr>
              <a:spcAft>
                <a:spcPts val="1400"/>
              </a:spcAft>
              <a:defRPr sz="1700">
                <a:solidFill>
                  <a:srgbClr val="44403C"/>
                </a:solidFill>
              </a:defRPr>
            </a:pPr>
            <a:r>
              <a:t>•  Your Name/Organization (if applicable)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31520"/>
            <a:ext cx="10332720" cy="914400"/>
          </a:xfrm>
          <a:prstGeom prst="rect">
            <a:avLst/>
          </a:prstGeom>
          <a:noFill/>
        </p:spPr>
        <p:txBody>
          <a:bodyPr wrap="none">
            <a:spAutoFit/>
          </a:bodyPr>
          <a:lstStyle/>
          <a:p>
            <a:pPr>
              <a:defRPr b="1" sz="2600">
                <a:solidFill>
                  <a:srgbClr val="1C1917"/>
                </a:solidFill>
              </a:defRPr>
            </a:pPr>
            <a:r>
              <a:t>Introduction – The Need for Renewable Energy</a:t>
            </a:r>
          </a:p>
        </p:txBody>
      </p:sp>
      <p:sp>
        <p:nvSpPr>
          <p:cNvPr id="4" name="TextBox 3"/>
          <p:cNvSpPr txBox="1"/>
          <p:nvPr/>
        </p:nvSpPr>
        <p:spPr>
          <a:xfrm>
            <a:off x="914400" y="1828800"/>
            <a:ext cx="10332720" cy="4389120"/>
          </a:xfrm>
          <a:prstGeom prst="rect">
            <a:avLst/>
          </a:prstGeom>
          <a:noFill/>
        </p:spPr>
        <p:txBody>
          <a:bodyPr wrap="square">
            <a:spAutoFit/>
          </a:bodyPr>
          <a:lstStyle/>
          <a:p/>
          <a:p>
            <a:pPr>
              <a:spcAft>
                <a:spcPts val="1400"/>
              </a:spcAft>
              <a:defRPr sz="1700">
                <a:solidFill>
                  <a:srgbClr val="44403C"/>
                </a:solidFill>
              </a:defRPr>
            </a:pPr>
            <a:r>
              <a:t>•  Title: Why Solar?</a:t>
            </a:r>
          </a:p>
          <a:p>
            <a:pPr>
              <a:spcAft>
                <a:spcPts val="1400"/>
              </a:spcAft>
              <a:defRPr sz="1700">
                <a:solidFill>
                  <a:srgbClr val="44403C"/>
                </a:solidFill>
              </a:defRPr>
            </a:pPr>
            <a:r>
              <a:t>•  Bullet Points:</a:t>
            </a:r>
          </a:p>
          <a:p>
            <a:pPr>
              <a:spcAft>
                <a:spcPts val="1400"/>
              </a:spcAft>
              <a:defRPr sz="1700">
                <a:solidFill>
                  <a:srgbClr val="44403C"/>
                </a:solidFill>
              </a:defRPr>
            </a:pPr>
            <a:r>
              <a:t>•  Growing global energy demand.</a:t>
            </a:r>
          </a:p>
          <a:p>
            <a:pPr>
              <a:spcAft>
                <a:spcPts val="1400"/>
              </a:spcAft>
              <a:defRPr sz="1700">
                <a:solidFill>
                  <a:srgbClr val="44403C"/>
                </a:solidFill>
              </a:defRPr>
            </a:pPr>
            <a:r>
              <a:t>•  Finite nature of fossil fuels – environmental concerns (climate change, pollution).</a:t>
            </a:r>
          </a:p>
          <a:p>
            <a:pPr>
              <a:spcAft>
                <a:spcPts val="1400"/>
              </a:spcAft>
              <a:defRPr sz="1700">
                <a:solidFill>
                  <a:srgbClr val="44403C"/>
                </a:solidFill>
              </a:defRPr>
            </a:pPr>
            <a:r>
              <a:t>•  The urgent need for sustainable energy sources.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31520"/>
            <a:ext cx="10332720" cy="914400"/>
          </a:xfrm>
          <a:prstGeom prst="rect">
            <a:avLst/>
          </a:prstGeom>
          <a:noFill/>
        </p:spPr>
        <p:txBody>
          <a:bodyPr wrap="none">
            <a:spAutoFit/>
          </a:bodyPr>
          <a:lstStyle/>
          <a:p>
            <a:pPr>
              <a:defRPr b="1" sz="2600">
                <a:solidFill>
                  <a:srgbClr val="1C1917"/>
                </a:solidFill>
              </a:defRPr>
            </a:pPr>
            <a:r>
              <a:t>How Solar Power Works – Photovoltaic (PV) Cells</a:t>
            </a:r>
          </a:p>
        </p:txBody>
      </p:sp>
      <p:sp>
        <p:nvSpPr>
          <p:cNvPr id="4" name="TextBox 3"/>
          <p:cNvSpPr txBox="1"/>
          <p:nvPr/>
        </p:nvSpPr>
        <p:spPr>
          <a:xfrm>
            <a:off x="914400" y="1828800"/>
            <a:ext cx="10332720" cy="4389120"/>
          </a:xfrm>
          <a:prstGeom prst="rect">
            <a:avLst/>
          </a:prstGeom>
          <a:noFill/>
        </p:spPr>
        <p:txBody>
          <a:bodyPr wrap="square">
            <a:spAutoFit/>
          </a:bodyPr>
          <a:lstStyle/>
          <a:p/>
          <a:p>
            <a:pPr>
              <a:spcAft>
                <a:spcPts val="1400"/>
              </a:spcAft>
              <a:defRPr sz="1700">
                <a:solidFill>
                  <a:srgbClr val="44403C"/>
                </a:solidFill>
              </a:defRPr>
            </a:pPr>
            <a:r>
              <a:t>•  Title: The Science Behind Solar</a:t>
            </a:r>
          </a:p>
          <a:p>
            <a:pPr>
              <a:spcAft>
                <a:spcPts val="1400"/>
              </a:spcAft>
              <a:defRPr sz="1700">
                <a:solidFill>
                  <a:srgbClr val="44403C"/>
                </a:solidFill>
              </a:defRPr>
            </a:pPr>
            <a:r>
              <a:t>•  Text:  Solar panels (photovoltaic panels) convert sunlight directly into electricity using the photovoltaic effect.  When photons (light particles) strike the panel, they excite electrons in the semiconductor material, creating an electric current.</a:t>
            </a:r>
          </a:p>
          <a:p>
            <a:pPr>
              <a:spcAft>
                <a:spcPts val="1400"/>
              </a:spcAft>
              <a:defRPr sz="1700">
                <a:solidFill>
                  <a:srgbClr val="44403C"/>
                </a:solidFill>
              </a:defRPr>
            </a:pPr>
            <a:r>
              <a:t>•  Diagram: A simple diagram illustrating the photovoltaic effect – sunlight hitting a silicon wafer, electrons being excited, and an electric current flowing.</a:t>
            </a:r>
          </a:p>
          <a:p>
            <a:pPr>
              <a:spcAft>
                <a:spcPts val="1400"/>
              </a:spcAft>
              <a:defRPr sz="1700">
                <a:solidFill>
                  <a:srgbClr val="44403C"/>
                </a:solidFill>
              </a:defRPr>
            </a:pPr>
            <a:r>
              <a:t>•  Key Terms: Photovoltaic effect, photons, semiconductors, electrons.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31520"/>
            <a:ext cx="10332720" cy="914400"/>
          </a:xfrm>
          <a:prstGeom prst="rect">
            <a:avLst/>
          </a:prstGeom>
          <a:noFill/>
        </p:spPr>
        <p:txBody>
          <a:bodyPr wrap="none">
            <a:spAutoFit/>
          </a:bodyPr>
          <a:lstStyle/>
          <a:p>
            <a:pPr>
              <a:defRPr b="1" sz="2600">
                <a:solidFill>
                  <a:srgbClr val="1C1917"/>
                </a:solidFill>
              </a:defRPr>
            </a:pPr>
            <a:r>
              <a:t>Types of Solar Technologies</a:t>
            </a:r>
          </a:p>
        </p:txBody>
      </p:sp>
      <p:sp>
        <p:nvSpPr>
          <p:cNvPr id="4" name="TextBox 3"/>
          <p:cNvSpPr txBox="1"/>
          <p:nvPr/>
        </p:nvSpPr>
        <p:spPr>
          <a:xfrm>
            <a:off x="914400" y="1828800"/>
            <a:ext cx="10332720" cy="4389120"/>
          </a:xfrm>
          <a:prstGeom prst="rect">
            <a:avLst/>
          </a:prstGeom>
          <a:noFill/>
        </p:spPr>
        <p:txBody>
          <a:bodyPr wrap="square">
            <a:spAutoFit/>
          </a:bodyPr>
          <a:lstStyle/>
          <a:p/>
          <a:p>
            <a:pPr>
              <a:spcAft>
                <a:spcPts val="1400"/>
              </a:spcAft>
              <a:defRPr sz="1700">
                <a:solidFill>
                  <a:srgbClr val="44403C"/>
                </a:solidFill>
              </a:defRPr>
            </a:pPr>
            <a:r>
              <a:t>•  Title: Different Approaches to Solar</a:t>
            </a:r>
          </a:p>
          <a:p>
            <a:pPr>
              <a:spcAft>
                <a:spcPts val="1400"/>
              </a:spcAft>
              <a:defRPr sz="1700">
                <a:solidFill>
                  <a:srgbClr val="44403C"/>
                </a:solidFill>
              </a:defRPr>
            </a:pPr>
            <a:r>
              <a:t>•  Sections (with brief descriptions and images):</a:t>
            </a:r>
          </a:p>
          <a:p>
            <a:pPr>
              <a:spcAft>
                <a:spcPts val="1400"/>
              </a:spcAft>
              <a:defRPr sz="1700">
                <a:solidFill>
                  <a:srgbClr val="44403C"/>
                </a:solidFill>
              </a:defRPr>
            </a:pPr>
            <a:r>
              <a:t>•  Photovoltaic (PV) Panels: (Most common – rooftop, solar farms) – Image: Typical PV panel.</a:t>
            </a:r>
          </a:p>
          <a:p>
            <a:pPr>
              <a:spcAft>
                <a:spcPts val="1400"/>
              </a:spcAft>
              <a:defRPr sz="1700">
                <a:solidFill>
                  <a:srgbClr val="44403C"/>
                </a:solidFill>
              </a:defRPr>
            </a:pPr>
            <a:r>
              <a:t>•  Concentrated Solar Power (CSP): (Uses mirrors to focus sunlight onto a receiver) – Image: CSP plant with heliostats.</a:t>
            </a:r>
          </a:p>
          <a:p>
            <a:pPr>
              <a:spcAft>
                <a:spcPts val="1400"/>
              </a:spcAft>
              <a:defRPr sz="1700">
                <a:solidFill>
                  <a:srgbClr val="44403C"/>
                </a:solidFill>
              </a:defRPr>
            </a:pPr>
            <a:r>
              <a:t>•  Solar Thermal Systems: (Uses sunlight to heat water or air) – Image: Solar water heater.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31520"/>
            <a:ext cx="10332720" cy="914400"/>
          </a:xfrm>
          <a:prstGeom prst="rect">
            <a:avLst/>
          </a:prstGeom>
          <a:noFill/>
        </p:spPr>
        <p:txBody>
          <a:bodyPr wrap="none">
            <a:spAutoFit/>
          </a:bodyPr>
          <a:lstStyle/>
          <a:p>
            <a:pPr>
              <a:defRPr b="1" sz="2600">
                <a:solidFill>
                  <a:srgbClr val="1C1917"/>
                </a:solidFill>
              </a:defRPr>
            </a:pPr>
            <a:r>
              <a:t>Solar Panel Components</a:t>
            </a:r>
          </a:p>
        </p:txBody>
      </p:sp>
      <p:sp>
        <p:nvSpPr>
          <p:cNvPr id="4" name="TextBox 3"/>
          <p:cNvSpPr txBox="1"/>
          <p:nvPr/>
        </p:nvSpPr>
        <p:spPr>
          <a:xfrm>
            <a:off x="914400" y="1828800"/>
            <a:ext cx="10332720" cy="4389120"/>
          </a:xfrm>
          <a:prstGeom prst="rect">
            <a:avLst/>
          </a:prstGeom>
          <a:noFill/>
        </p:spPr>
        <p:txBody>
          <a:bodyPr wrap="square">
            <a:spAutoFit/>
          </a:bodyPr>
          <a:lstStyle/>
          <a:p/>
          <a:p>
            <a:pPr>
              <a:spcAft>
                <a:spcPts val="1400"/>
              </a:spcAft>
              <a:defRPr sz="1700">
                <a:solidFill>
                  <a:srgbClr val="44403C"/>
                </a:solidFill>
              </a:defRPr>
            </a:pPr>
            <a:r>
              <a:t>•  Title: Inside a Solar Panel</a:t>
            </a:r>
          </a:p>
          <a:p>
            <a:pPr>
              <a:spcAft>
                <a:spcPts val="1400"/>
              </a:spcAft>
              <a:defRPr sz="1700">
                <a:solidFill>
                  <a:srgbClr val="44403C"/>
                </a:solidFill>
              </a:defRPr>
            </a:pPr>
            <a:r>
              <a:t>•  Diagram: A labelled diagram of a typical solar panel, highlighting key components:</a:t>
            </a:r>
          </a:p>
          <a:p>
            <a:pPr>
              <a:spcAft>
                <a:spcPts val="1400"/>
              </a:spcAft>
              <a:defRPr sz="1700">
                <a:solidFill>
                  <a:srgbClr val="44403C"/>
                </a:solidFill>
              </a:defRPr>
            </a:pPr>
            <a:r>
              <a:t>•  Solar Cells: The core component.</a:t>
            </a:r>
          </a:p>
          <a:p>
            <a:pPr>
              <a:spcAft>
                <a:spcPts val="1400"/>
              </a:spcAft>
              <a:defRPr sz="1700">
                <a:solidFill>
                  <a:srgbClr val="44403C"/>
                </a:solidFill>
              </a:defRPr>
            </a:pPr>
            <a:r>
              <a:t>•  Glass Cover: Protects the cells.</a:t>
            </a:r>
          </a:p>
          <a:p>
            <a:pPr>
              <a:spcAft>
                <a:spcPts val="1400"/>
              </a:spcAft>
              <a:defRPr sz="1700">
                <a:solidFill>
                  <a:srgbClr val="44403C"/>
                </a:solidFill>
              </a:defRPr>
            </a:pPr>
            <a:r>
              <a:t>•  Encapsulant:  Holds the cells in place.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31520"/>
            <a:ext cx="10332720" cy="914400"/>
          </a:xfrm>
          <a:prstGeom prst="rect">
            <a:avLst/>
          </a:prstGeom>
          <a:noFill/>
        </p:spPr>
        <p:txBody>
          <a:bodyPr wrap="none">
            <a:spAutoFit/>
          </a:bodyPr>
          <a:lstStyle/>
          <a:p>
            <a:pPr>
              <a:defRPr b="1" sz="2600">
                <a:solidFill>
                  <a:srgbClr val="1C1917"/>
                </a:solidFill>
              </a:defRPr>
            </a:pPr>
            <a:r>
              <a:t>Solar Farm Technology</a:t>
            </a:r>
          </a:p>
        </p:txBody>
      </p:sp>
      <p:sp>
        <p:nvSpPr>
          <p:cNvPr id="4" name="TextBox 3"/>
          <p:cNvSpPr txBox="1"/>
          <p:nvPr/>
        </p:nvSpPr>
        <p:spPr>
          <a:xfrm>
            <a:off x="914400" y="1828800"/>
            <a:ext cx="10332720" cy="4389120"/>
          </a:xfrm>
          <a:prstGeom prst="rect">
            <a:avLst/>
          </a:prstGeom>
          <a:noFill/>
        </p:spPr>
        <p:txBody>
          <a:bodyPr wrap="square">
            <a:spAutoFit/>
          </a:bodyPr>
          <a:lstStyle/>
          <a:p/>
          <a:p>
            <a:pPr>
              <a:spcAft>
                <a:spcPts val="1400"/>
              </a:spcAft>
              <a:defRPr sz="1700">
                <a:solidFill>
                  <a:srgbClr val="44403C"/>
                </a:solidFill>
              </a:defRPr>
            </a:pPr>
            <a:r>
              <a:t>•  Title: Large-Scale Solar Power</a:t>
            </a:r>
          </a:p>
          <a:p>
            <a:pPr>
              <a:spcAft>
                <a:spcPts val="1400"/>
              </a:spcAft>
              <a:defRPr sz="1700">
                <a:solidFill>
                  <a:srgbClr val="44403C"/>
                </a:solidFill>
              </a:defRPr>
            </a:pPr>
            <a:r>
              <a:t>•  Text: Solar farms are large-scale installations of photovoltaic panels designed to generate significant amounts of electricity. They often utilize tracking systems to maximize sunlight capture.</a:t>
            </a:r>
          </a:p>
          <a:p>
            <a:pPr>
              <a:spcAft>
                <a:spcPts val="1400"/>
              </a:spcAft>
              <a:defRPr sz="1700">
                <a:solidFill>
                  <a:srgbClr val="44403C"/>
                </a:solidFill>
              </a:defRPr>
            </a:pPr>
            <a:r>
              <a:t>•  Image: A large-scale solar farm.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31520"/>
            <a:ext cx="10332720" cy="914400"/>
          </a:xfrm>
          <a:prstGeom prst="rect">
            <a:avLst/>
          </a:prstGeom>
          <a:noFill/>
        </p:spPr>
        <p:txBody>
          <a:bodyPr wrap="none">
            <a:spAutoFit/>
          </a:bodyPr>
          <a:lstStyle/>
          <a:p>
            <a:pPr>
              <a:defRPr b="1" sz="2600">
                <a:solidFill>
                  <a:srgbClr val="1C1917"/>
                </a:solidFill>
              </a:defRPr>
            </a:pPr>
            <a:r>
              <a:t>Advantages of Solar Power</a:t>
            </a:r>
          </a:p>
        </p:txBody>
      </p:sp>
      <p:sp>
        <p:nvSpPr>
          <p:cNvPr id="4" name="TextBox 3"/>
          <p:cNvSpPr txBox="1"/>
          <p:nvPr/>
        </p:nvSpPr>
        <p:spPr>
          <a:xfrm>
            <a:off x="914400" y="1828800"/>
            <a:ext cx="10332720" cy="4389120"/>
          </a:xfrm>
          <a:prstGeom prst="rect">
            <a:avLst/>
          </a:prstGeom>
          <a:noFill/>
        </p:spPr>
        <p:txBody>
          <a:bodyPr wrap="square">
            <a:spAutoFit/>
          </a:bodyPr>
          <a:lstStyle/>
          <a:p/>
          <a:p>
            <a:pPr>
              <a:spcAft>
                <a:spcPts val="1400"/>
              </a:spcAft>
              <a:defRPr sz="1700">
                <a:solidFill>
                  <a:srgbClr val="44403C"/>
                </a:solidFill>
              </a:defRPr>
            </a:pPr>
            <a:r>
              <a:t>•  Title: The Benefits of Going Solar</a:t>
            </a:r>
          </a:p>
          <a:p>
            <a:pPr>
              <a:spcAft>
                <a:spcPts val="1400"/>
              </a:spcAft>
              <a:defRPr sz="1700">
                <a:solidFill>
                  <a:srgbClr val="44403C"/>
                </a:solidFill>
              </a:defRPr>
            </a:pPr>
            <a:r>
              <a:t>•  Bullet Points:</a:t>
            </a:r>
          </a:p>
          <a:p>
            <a:pPr>
              <a:spcAft>
                <a:spcPts val="1400"/>
              </a:spcAft>
              <a:defRPr sz="1700">
                <a:solidFill>
                  <a:srgbClr val="44403C"/>
                </a:solidFill>
              </a:defRPr>
            </a:pPr>
            <a:r>
              <a:t>•  Renewable and Sustainable: Virtually inexhaustible resource.</a:t>
            </a:r>
          </a:p>
          <a:p>
            <a:pPr>
              <a:spcAft>
                <a:spcPts val="1400"/>
              </a:spcAft>
              <a:defRPr sz="1700">
                <a:solidFill>
                  <a:srgbClr val="44403C"/>
                </a:solidFill>
              </a:defRPr>
            </a:pPr>
            <a:r>
              <a:t>•  Environmentally Friendly: Reduces greenhouse gas emissions.</a:t>
            </a:r>
          </a:p>
          <a:p>
            <a:pPr>
              <a:spcAft>
                <a:spcPts val="1400"/>
              </a:spcAft>
              <a:defRPr sz="1700">
                <a:solidFill>
                  <a:srgbClr val="44403C"/>
                </a:solidFill>
              </a:defRPr>
            </a:pPr>
            <a:r>
              <a:t>•  Reduced Energy Costs: Lower electricity bills.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31520"/>
            <a:ext cx="10332720" cy="914400"/>
          </a:xfrm>
          <a:prstGeom prst="rect">
            <a:avLst/>
          </a:prstGeom>
          <a:noFill/>
        </p:spPr>
        <p:txBody>
          <a:bodyPr wrap="none">
            <a:spAutoFit/>
          </a:bodyPr>
          <a:lstStyle/>
          <a:p>
            <a:pPr>
              <a:defRPr b="1" sz="2600">
                <a:solidFill>
                  <a:srgbClr val="1C1917"/>
                </a:solidFill>
              </a:defRPr>
            </a:pPr>
            <a:r>
              <a:t>Challenges and Considerations</a:t>
            </a:r>
          </a:p>
        </p:txBody>
      </p:sp>
      <p:sp>
        <p:nvSpPr>
          <p:cNvPr id="4" name="TextBox 3"/>
          <p:cNvSpPr txBox="1"/>
          <p:nvPr/>
        </p:nvSpPr>
        <p:spPr>
          <a:xfrm>
            <a:off x="914400" y="1828800"/>
            <a:ext cx="10332720" cy="4389120"/>
          </a:xfrm>
          <a:prstGeom prst="rect">
            <a:avLst/>
          </a:prstGeom>
          <a:noFill/>
        </p:spPr>
        <p:txBody>
          <a:bodyPr wrap="square">
            <a:spAutoFit/>
          </a:bodyPr>
          <a:lstStyle/>
          <a:p/>
          <a:p>
            <a:pPr>
              <a:spcAft>
                <a:spcPts val="1400"/>
              </a:spcAft>
              <a:defRPr sz="1700">
                <a:solidFill>
                  <a:srgbClr val="44403C"/>
                </a:solidFill>
              </a:defRPr>
            </a:pPr>
            <a:r>
              <a:t>•  Title: Addressing the Hurdles</a:t>
            </a:r>
          </a:p>
          <a:p>
            <a:pPr>
              <a:spcAft>
                <a:spcPts val="1400"/>
              </a:spcAft>
              <a:defRPr sz="1700">
                <a:solidFill>
                  <a:srgbClr val="44403C"/>
                </a:solidFill>
              </a:defRPr>
            </a:pPr>
            <a:r>
              <a:t>•  Bullet Points:</a:t>
            </a:r>
          </a:p>
          <a:p>
            <a:pPr>
              <a:spcAft>
                <a:spcPts val="1400"/>
              </a:spcAft>
              <a:defRPr sz="1700">
                <a:solidFill>
                  <a:srgbClr val="44403C"/>
                </a:solidFill>
              </a:defRPr>
            </a:pPr>
            <a:r>
              <a:t>•  Intermittency: Solar power generation depends on sunlight availability.</a:t>
            </a:r>
          </a:p>
          <a:p>
            <a:pPr>
              <a:spcAft>
                <a:spcPts val="1400"/>
              </a:spcAft>
              <a:defRPr sz="1700">
                <a:solidFill>
                  <a:srgbClr val="44403C"/>
                </a:solidFill>
              </a:defRPr>
            </a:pPr>
            <a:r>
              <a:t>•  Initial Cost:  Upfront investment can be significant (though decreasing).</a:t>
            </a:r>
          </a:p>
          <a:p>
            <a:pPr>
              <a:spcAft>
                <a:spcPts val="1400"/>
              </a:spcAft>
              <a:defRPr sz="1700">
                <a:solidFill>
                  <a:srgbClr val="44403C"/>
                </a:solidFill>
              </a:defRPr>
            </a:pPr>
            <a:r>
              <a:t>•  Land Use: Large-scale solar farms require considerable land area.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31520"/>
            <a:ext cx="10332720" cy="914400"/>
          </a:xfrm>
          <a:prstGeom prst="rect">
            <a:avLst/>
          </a:prstGeom>
          <a:noFill/>
        </p:spPr>
        <p:txBody>
          <a:bodyPr wrap="none">
            <a:spAutoFit/>
          </a:bodyPr>
          <a:lstStyle/>
          <a:p>
            <a:pPr>
              <a:defRPr b="1" sz="2600">
                <a:solidFill>
                  <a:srgbClr val="1C1917"/>
                </a:solidFill>
              </a:defRPr>
            </a:pPr>
            <a:r>
              <a:t>The Future of Solar Power</a:t>
            </a:r>
          </a:p>
        </p:txBody>
      </p:sp>
      <p:sp>
        <p:nvSpPr>
          <p:cNvPr id="4" name="TextBox 3"/>
          <p:cNvSpPr txBox="1"/>
          <p:nvPr/>
        </p:nvSpPr>
        <p:spPr>
          <a:xfrm>
            <a:off x="914400" y="1828800"/>
            <a:ext cx="10332720" cy="4389120"/>
          </a:xfrm>
          <a:prstGeom prst="rect">
            <a:avLst/>
          </a:prstGeom>
          <a:noFill/>
        </p:spPr>
        <p:txBody>
          <a:bodyPr wrap="square">
            <a:spAutoFit/>
          </a:bodyPr>
          <a:lstStyle/>
          <a:p/>
          <a:p>
            <a:pPr>
              <a:spcAft>
                <a:spcPts val="1400"/>
              </a:spcAft>
              <a:defRPr sz="1700">
                <a:solidFill>
                  <a:srgbClr val="44403C"/>
                </a:solidFill>
              </a:defRPr>
            </a:pPr>
            <a:r>
              <a:t>•  Title: Looking Ahead</a:t>
            </a:r>
          </a:p>
          <a:p>
            <a:pPr>
              <a:spcAft>
                <a:spcPts val="1400"/>
              </a:spcAft>
              <a:defRPr sz="1700">
                <a:solidFill>
                  <a:srgbClr val="44403C"/>
                </a:solidFill>
              </a:defRPr>
            </a:pPr>
            <a:r>
              <a:t>•  Bullet Points:</a:t>
            </a:r>
          </a:p>
          <a:p>
            <a:pPr>
              <a:spcAft>
                <a:spcPts val="1400"/>
              </a:spcAft>
              <a:defRPr sz="1700">
                <a:solidFill>
                  <a:srgbClr val="44403C"/>
                </a:solidFill>
              </a:defRPr>
            </a:pPr>
            <a:r>
              <a:t>•  Continued Technological Advancements: Increased efficiency, reduced costs.</a:t>
            </a:r>
          </a:p>
          <a:p>
            <a:pPr>
              <a:spcAft>
                <a:spcPts val="1400"/>
              </a:spcAft>
              <a:defRPr sz="1700">
                <a:solidFill>
                  <a:srgbClr val="44403C"/>
                </a:solidFill>
              </a:defRPr>
            </a:pPr>
            <a:r>
              <a:t>•  Grid Integration:  Smart grids to manage solar power fluctuations.</a:t>
            </a:r>
          </a:p>
          <a:p>
            <a:pPr>
              <a:spcAft>
                <a:spcPts val="1400"/>
              </a:spcAft>
              <a:defRPr sz="1700">
                <a:solidFill>
                  <a:srgbClr val="44403C"/>
                </a:solidFill>
              </a:defRPr>
            </a:pPr>
            <a:r>
              <a:t>•  Energy Storage Solutions: Battery technology advancements.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31520"/>
            <a:ext cx="10332720" cy="914400"/>
          </a:xfrm>
          <a:prstGeom prst="rect">
            <a:avLst/>
          </a:prstGeom>
          <a:noFill/>
        </p:spPr>
        <p:txBody>
          <a:bodyPr wrap="none">
            <a:spAutoFit/>
          </a:bodyPr>
          <a:lstStyle/>
          <a:p>
            <a:pPr>
              <a:defRPr b="1" sz="2600">
                <a:solidFill>
                  <a:srgbClr val="1C1917"/>
                </a:solidFill>
              </a:defRPr>
            </a:pPr>
            <a:r>
              <a:t>Conclusion</a:t>
            </a:r>
          </a:p>
        </p:txBody>
      </p:sp>
      <p:sp>
        <p:nvSpPr>
          <p:cNvPr id="4" name="TextBox 3"/>
          <p:cNvSpPr txBox="1"/>
          <p:nvPr/>
        </p:nvSpPr>
        <p:spPr>
          <a:xfrm>
            <a:off x="914400" y="1828800"/>
            <a:ext cx="10332720" cy="4389120"/>
          </a:xfrm>
          <a:prstGeom prst="rect">
            <a:avLst/>
          </a:prstGeom>
          <a:noFill/>
        </p:spPr>
        <p:txBody>
          <a:bodyPr wrap="square">
            <a:spAutoFit/>
          </a:bodyPr>
          <a:lstStyle/>
          <a:p/>
          <a:p>
            <a:pPr>
              <a:spcAft>
                <a:spcPts val="1400"/>
              </a:spcAft>
              <a:defRPr sz="1700">
                <a:solidFill>
                  <a:srgbClr val="44403C"/>
                </a:solidFill>
              </a:defRPr>
            </a:pPr>
            <a:r>
              <a:t>•  Title:  A Bright Future for Solar</a:t>
            </a:r>
          </a:p>
          <a:p>
            <a:pPr>
              <a:spcAft>
                <a:spcPts val="1400"/>
              </a:spcAft>
              <a:defRPr sz="1700">
                <a:solidFill>
                  <a:srgbClr val="44403C"/>
                </a:solidFill>
              </a:defRPr>
            </a:pPr>
            <a:r>
              <a:t>•  Text: Solar power is a vital component of a sustainable energy future.  Continued innovation and deployment will play a crucial role in addressing climate change and meeting global energy needs.</a:t>
            </a:r>
          </a:p>
          <a:p>
            <a:pPr>
              <a:spcAft>
                <a:spcPts val="1400"/>
              </a:spcAft>
              <a:defRPr sz="1700">
                <a:solidFill>
                  <a:srgbClr val="44403C"/>
                </a:solidFill>
              </a:defRPr>
            </a:pPr>
            <a:r>
              <a:t>•  Image:  A hopeful image of a solar-powered community or a futuristic solar energy landscape.</a:t>
            </a:r>
          </a:p>
          <a:p>
            <a:pPr>
              <a:spcAft>
                <a:spcPts val="1400"/>
              </a:spcAft>
              <a:defRPr sz="1700">
                <a:solidFill>
                  <a:srgbClr val="44403C"/>
                </a:solidFill>
              </a:defRPr>
            </a:pPr>
            <a:r>
              <a:t>•  Note: This is a detailed outline. You'll need to flesh out each slide with more specific data, statistics, and visuals.  I can help you refine any of these slides further if you have specific areas you'd like to focus on.  Do you want me to elaborate on a particular section, such as the cost analysis or the different types of solar storage?  Would you like me to generate some sample data for a specific slide (e.g., a graph showing solar panel efficiency over time)?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